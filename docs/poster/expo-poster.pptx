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601200" cy="12801600" type="A3"/>
  <p:notesSz cx="6858000" cy="9144000"/>
  <p:embeddedFontLst>
    <p:embeddedFont>
      <p:font typeface="Play" pitchFamily="2" charset="0"/>
      <p:regular r:id="rId4"/>
      <p:bold r:id="rId5"/>
    </p:embeddedFont>
    <p:embeddedFont>
      <p:font typeface="Titillium Web" pitchFamily="2" charset="77"/>
      <p:regular r:id="rId6"/>
      <p:bold r:id="rId7"/>
      <p:italic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" roundtripDataSignature="AMtx7mi3kXFWCjbGlu54HFLZz9ezrL+m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B2C8"/>
    <a:srgbClr val="183850"/>
    <a:srgbClr val="25262B"/>
    <a:srgbClr val="478FD0"/>
    <a:srgbClr val="11304D"/>
    <a:srgbClr val="DFE2E6"/>
    <a:srgbClr val="F3F6F9"/>
    <a:srgbClr val="EC8B33"/>
    <a:srgbClr val="5DC3AE"/>
    <a:srgbClr val="EDF2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24"/>
    <p:restoredTop sz="94694"/>
  </p:normalViewPr>
  <p:slideViewPr>
    <p:cSldViewPr snapToGrid="0">
      <p:cViewPr varScale="1">
        <p:scale>
          <a:sx n="71" d="100"/>
          <a:sy n="71" d="100"/>
        </p:scale>
        <p:origin x="168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5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4baaa65b42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4baaa65b42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00"/>
              <a:buFont typeface="Play"/>
              <a:buNone/>
              <a:defRPr sz="6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/>
            </a:lvl1pPr>
            <a:lvl2pPr lvl="1" algn="ctr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lvl="2" algn="ctr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90"/>
              <a:buNone/>
              <a:defRPr sz="1890"/>
            </a:lvl3pPr>
            <a:lvl4pPr lvl="3" algn="ctr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/>
            </a:lvl4pPr>
            <a:lvl5pPr lvl="4" algn="ctr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/>
            </a:lvl5pPr>
            <a:lvl6pPr lvl="5" algn="ctr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/>
            </a:lvl6pPr>
            <a:lvl7pPr lvl="6" algn="ctr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/>
            </a:lvl7pPr>
            <a:lvl8pPr lvl="7" algn="ctr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/>
            </a:lvl8pPr>
            <a:lvl9pPr lvl="8" algn="ctr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00"/>
              <a:buFont typeface="Play"/>
              <a:buNone/>
              <a:defRPr sz="6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>
                <a:srgbClr val="757575"/>
              </a:buClr>
              <a:buSzPts val="2520"/>
              <a:buNone/>
              <a:defRPr sz="252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rgbClr val="757575"/>
              </a:buClr>
              <a:buSzPts val="2100"/>
              <a:buNone/>
              <a:defRPr sz="21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rgbClr val="757575"/>
              </a:buClr>
              <a:buSzPts val="1890"/>
              <a:buNone/>
              <a:defRPr sz="189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rgbClr val="757575"/>
              </a:buClr>
              <a:buSzPts val="1680"/>
              <a:buNone/>
              <a:defRPr sz="1679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rgbClr val="757575"/>
              </a:buClr>
              <a:buSzPts val="1680"/>
              <a:buNone/>
              <a:defRPr sz="1679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rgbClr val="757575"/>
              </a:buClr>
              <a:buSzPts val="1680"/>
              <a:buNone/>
              <a:defRPr sz="1679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rgbClr val="757575"/>
              </a:buClr>
              <a:buSzPts val="1680"/>
              <a:buNone/>
              <a:defRPr sz="1679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rgbClr val="757575"/>
              </a:buClr>
              <a:buSzPts val="1680"/>
              <a:buNone/>
              <a:defRPr sz="1679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rgbClr val="757575"/>
              </a:buClr>
              <a:buSzPts val="1680"/>
              <a:buNone/>
              <a:defRPr sz="1679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660083" y="3407833"/>
            <a:ext cx="4080510" cy="8122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4860608" y="3407833"/>
            <a:ext cx="4080510" cy="8122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 b="1"/>
            </a:lvl1pPr>
            <a:lvl2pPr marL="914400" lvl="1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2pPr>
            <a:lvl3pPr marL="1371600" lvl="2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90"/>
              <a:buNone/>
              <a:defRPr sz="1890" b="1"/>
            </a:lvl3pPr>
            <a:lvl4pPr marL="1828800" lvl="3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4pPr>
            <a:lvl5pPr marL="2286000" lvl="4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5pPr>
            <a:lvl6pPr marL="2743200" lvl="5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6pPr>
            <a:lvl7pPr marL="3200400" lvl="6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7pPr>
            <a:lvl8pPr marL="3657600" lvl="7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8pPr>
            <a:lvl9pPr marL="4114800" lvl="8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661334" y="4676140"/>
            <a:ext cx="4061757" cy="6877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4860608" y="3138171"/>
            <a:ext cx="4081761" cy="1537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 b="1"/>
            </a:lvl1pPr>
            <a:lvl2pPr marL="914400" lvl="1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2pPr>
            <a:lvl3pPr marL="1371600" lvl="2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90"/>
              <a:buNone/>
              <a:defRPr sz="1890" b="1"/>
            </a:lvl3pPr>
            <a:lvl4pPr marL="1828800" lvl="3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4pPr>
            <a:lvl5pPr marL="2286000" lvl="4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5pPr>
            <a:lvl6pPr marL="2743200" lvl="5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6pPr>
            <a:lvl7pPr marL="3200400" lvl="6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7pPr>
            <a:lvl8pPr marL="3657600" lvl="7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8pPr>
            <a:lvl9pPr marL="4114800" lvl="8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4860608" y="4676140"/>
            <a:ext cx="4081761" cy="6877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Play"/>
              <a:buNone/>
              <a:defRPr sz="335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4081760" y="1843196"/>
            <a:ext cx="4860608" cy="9097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4196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59"/>
            </a:lvl1pPr>
            <a:lvl2pPr marL="914400" lvl="1" indent="-41529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940"/>
              <a:buChar char="•"/>
              <a:defRPr sz="2940"/>
            </a:lvl2pPr>
            <a:lvl3pPr marL="1371600" lvl="2" indent="-388619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3pPr>
            <a:lvl4pPr marL="1828800" lvl="3" indent="-36195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4pPr>
            <a:lvl5pPr marL="2286000" lvl="4" indent="-36195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5pPr>
            <a:lvl6pPr marL="2743200" lvl="5" indent="-36195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marL="3200400" lvl="6" indent="-36195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marL="3657600" lvl="7" indent="-36195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marL="4114800" lvl="8" indent="-36195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661333" y="3840480"/>
            <a:ext cx="3096637" cy="7114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/>
            </a:lvl1pPr>
            <a:lvl2pPr marL="914400" lvl="1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470"/>
              <a:buNone/>
              <a:defRPr sz="1470"/>
            </a:lvl2pPr>
            <a:lvl3pPr marL="1371600" lvl="2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260"/>
              <a:buNone/>
              <a:defRPr sz="1260"/>
            </a:lvl3pPr>
            <a:lvl4pPr marL="1828800" lvl="3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4pPr>
            <a:lvl5pPr marL="2286000" lvl="4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5pPr>
            <a:lvl6pPr marL="2743200" lvl="5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6pPr>
            <a:lvl7pPr marL="3200400" lvl="6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7pPr>
            <a:lvl8pPr marL="3657600" lvl="7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8pPr>
            <a:lvl9pPr marL="4114800" lvl="8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Play"/>
              <a:buNone/>
              <a:defRPr sz="335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4081760" y="1843196"/>
            <a:ext cx="4860608" cy="9097433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661333" y="3840480"/>
            <a:ext cx="3096637" cy="7114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/>
            </a:lvl1pPr>
            <a:lvl2pPr marL="914400" lvl="1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470"/>
              <a:buNone/>
              <a:defRPr sz="1470"/>
            </a:lvl2pPr>
            <a:lvl3pPr marL="1371600" lvl="2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260"/>
              <a:buNone/>
              <a:defRPr sz="1260"/>
            </a:lvl3pPr>
            <a:lvl4pPr marL="1828800" lvl="3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4pPr>
            <a:lvl5pPr marL="2286000" lvl="4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5pPr>
            <a:lvl6pPr marL="2743200" lvl="5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6pPr>
            <a:lvl7pPr marL="3200400" lvl="6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7pPr>
            <a:lvl8pPr marL="3657600" lvl="7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8pPr>
            <a:lvl9pPr marL="4114800" lvl="8" indent="-2286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739352" y="3328565"/>
            <a:ext cx="8122498" cy="8281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2481606" y="5070820"/>
            <a:ext cx="10848764" cy="207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1718919" y="3060568"/>
            <a:ext cx="10848764" cy="6090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20"/>
              <a:buFont typeface="Play"/>
              <a:buNone/>
              <a:defRPr sz="462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15290" algn="l" rtl="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>
                <a:schemeClr val="dk1"/>
              </a:buClr>
              <a:buSzPts val="2940"/>
              <a:buFont typeface="Arial"/>
              <a:buChar char="•"/>
              <a:defRPr sz="294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8619" algn="l" rtl="0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sz="252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1950" algn="l" rtl="0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8614" algn="l" rtl="0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90"/>
              <a:buFont typeface="Arial"/>
              <a:buChar char="•"/>
              <a:defRPr sz="189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8614" algn="l" rtl="0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90"/>
              <a:buFont typeface="Arial"/>
              <a:buChar char="•"/>
              <a:defRPr sz="189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8614" algn="l" rtl="0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90"/>
              <a:buFont typeface="Arial"/>
              <a:buChar char="•"/>
              <a:defRPr sz="189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8614" algn="l" rtl="0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90"/>
              <a:buFont typeface="Arial"/>
              <a:buChar char="•"/>
              <a:defRPr sz="189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8615" algn="l" rtl="0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90"/>
              <a:buFont typeface="Arial"/>
              <a:buChar char="•"/>
              <a:defRPr sz="189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8615" algn="l" rtl="0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90"/>
              <a:buFont typeface="Arial"/>
              <a:buChar char="•"/>
              <a:defRPr sz="189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2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17AEB9B8-8D79-2F3C-C437-7387EDDCAB62}"/>
              </a:ext>
            </a:extLst>
          </p:cNvPr>
          <p:cNvSpPr/>
          <p:nvPr/>
        </p:nvSpPr>
        <p:spPr>
          <a:xfrm>
            <a:off x="2119718" y="10946664"/>
            <a:ext cx="6820534" cy="1586797"/>
          </a:xfrm>
          <a:prstGeom prst="roundRect">
            <a:avLst/>
          </a:prstGeom>
          <a:solidFill>
            <a:srgbClr val="72B2C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EFB5C709-D12B-2768-5BE0-0C15DB7DB23B}"/>
              </a:ext>
            </a:extLst>
          </p:cNvPr>
          <p:cNvSpPr/>
          <p:nvPr/>
        </p:nvSpPr>
        <p:spPr>
          <a:xfrm>
            <a:off x="4472025" y="6985942"/>
            <a:ext cx="4476380" cy="3709767"/>
          </a:xfrm>
          <a:prstGeom prst="roundRect">
            <a:avLst/>
          </a:prstGeom>
          <a:solidFill>
            <a:srgbClr val="DFE2E6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674B302-D76F-A953-2752-42AE80A18CFC}"/>
              </a:ext>
            </a:extLst>
          </p:cNvPr>
          <p:cNvSpPr/>
          <p:nvPr/>
        </p:nvSpPr>
        <p:spPr>
          <a:xfrm>
            <a:off x="-13" y="2023326"/>
            <a:ext cx="9601200" cy="2743762"/>
          </a:xfrm>
          <a:prstGeom prst="rect">
            <a:avLst/>
          </a:prstGeom>
          <a:solidFill>
            <a:srgbClr val="72B2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4" name="Google Shape;84;g34baaa65b42_1_0" title="DCU branded banne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601201" cy="92954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4baaa65b42_1_0"/>
          <p:cNvSpPr txBox="1"/>
          <p:nvPr/>
        </p:nvSpPr>
        <p:spPr>
          <a:xfrm>
            <a:off x="134210" y="1603010"/>
            <a:ext cx="9601200" cy="35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Student:</a:t>
            </a:r>
            <a:r>
              <a:rPr lang="en-IE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Christopher Dobey &amp; Padraig Mann BSc. In Computer Science</a:t>
            </a:r>
            <a:r>
              <a:rPr lang="en-IE" dirty="0">
                <a:solidFill>
                  <a:schemeClr val="dk1"/>
                </a:solidFill>
              </a:rPr>
              <a:t>	</a:t>
            </a:r>
            <a:r>
              <a:rPr lang="en-IE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Supervisor:</a:t>
            </a:r>
            <a:r>
              <a:rPr lang="en-IE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</a:t>
            </a:r>
            <a:r>
              <a:rPr lang="en-GB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Sahraoui </a:t>
            </a:r>
            <a:r>
              <a:rPr lang="en-GB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Dhelim</a:t>
            </a:r>
            <a:endParaRPr b="0" i="0" u="none" strike="noStrike" cap="none" dirty="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g34baaa65b42_1_0" title="Screenshot 2025-04-14 09305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929538"/>
            <a:ext cx="9601200" cy="6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34baaa65b42_1_0"/>
          <p:cNvSpPr txBox="1"/>
          <p:nvPr/>
        </p:nvSpPr>
        <p:spPr>
          <a:xfrm>
            <a:off x="3400350" y="934800"/>
            <a:ext cx="6076800" cy="6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294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School of Computing</a:t>
            </a:r>
            <a:endParaRPr sz="2940" dirty="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89" name="Google Shape;89;g34baaa65b42_1_0" descr="DCU logo"/>
          <p:cNvPicPr preferRelativeResize="0"/>
          <p:nvPr/>
        </p:nvPicPr>
        <p:blipFill rotWithShape="1">
          <a:blip r:embed="rId5">
            <a:alphaModFix/>
          </a:blip>
          <a:srcRect l="8950" t="-750" r="-8950" b="750"/>
          <a:stretch/>
        </p:blipFill>
        <p:spPr>
          <a:xfrm>
            <a:off x="441760" y="10720940"/>
            <a:ext cx="1647825" cy="18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CF957CC-8499-7831-11B6-33BDE9B48B6B}"/>
              </a:ext>
            </a:extLst>
          </p:cNvPr>
          <p:cNvSpPr/>
          <p:nvPr/>
        </p:nvSpPr>
        <p:spPr>
          <a:xfrm>
            <a:off x="652796" y="4976475"/>
            <a:ext cx="2160000" cy="180000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478F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478FD0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B945CF8-7492-5D3F-BE40-08D8B1D9322B}"/>
              </a:ext>
            </a:extLst>
          </p:cNvPr>
          <p:cNvSpPr/>
          <p:nvPr/>
        </p:nvSpPr>
        <p:spPr>
          <a:xfrm>
            <a:off x="3732539" y="4982658"/>
            <a:ext cx="2160000" cy="180000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5DC3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D5C1E51-8BE5-4E61-EE07-543EFEF80210}"/>
              </a:ext>
            </a:extLst>
          </p:cNvPr>
          <p:cNvSpPr/>
          <p:nvPr/>
        </p:nvSpPr>
        <p:spPr>
          <a:xfrm>
            <a:off x="6780253" y="4976475"/>
            <a:ext cx="2160000" cy="180000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EC8B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Certificate icon &quot;certificate&quot; by Phosphor | Free React, JSX, SVG, PNG">
            <a:extLst>
              <a:ext uri="{FF2B5EF4-FFF2-40B4-BE49-F238E27FC236}">
                <a16:creationId xmlns:a16="http://schemas.microsoft.com/office/drawing/2014/main" id="{5BDA5416-7825-9693-42A9-ECC2FF22C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28" t="-3628" r="-3628" b="-3628"/>
          <a:stretch/>
        </p:blipFill>
        <p:spPr bwMode="auto">
          <a:xfrm>
            <a:off x="821026" y="5133352"/>
            <a:ext cx="386123" cy="386123"/>
          </a:xfrm>
          <a:prstGeom prst="roundRect">
            <a:avLst/>
          </a:prstGeom>
          <a:solidFill>
            <a:srgbClr val="478FD0">
              <a:alpha val="50000"/>
            </a:srgbClr>
          </a:solidFill>
          <a:ln>
            <a:solidFill>
              <a:schemeClr val="accent1"/>
            </a:solidFill>
          </a:ln>
          <a:effectLst>
            <a:softEdge rad="0"/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0E18711-C673-77D7-54BD-9B4CDDB9346A}"/>
              </a:ext>
            </a:extLst>
          </p:cNvPr>
          <p:cNvSpPr txBox="1"/>
          <p:nvPr/>
        </p:nvSpPr>
        <p:spPr>
          <a:xfrm>
            <a:off x="724931" y="5581995"/>
            <a:ext cx="2151353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50" b="0" i="0" dirty="0">
                <a:solidFill>
                  <a:srgbClr val="868E9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Issuers can securely issue digital credentials that are tamper-proof and easily verifiable on the blockchain, eliminating the risk of fraud.</a:t>
            </a:r>
            <a:endParaRPr lang="en-US" sz="12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FA647B-F56E-1AAE-5279-F3A9FF76FC70}"/>
              </a:ext>
            </a:extLst>
          </p:cNvPr>
          <p:cNvSpPr txBox="1"/>
          <p:nvPr/>
        </p:nvSpPr>
        <p:spPr>
          <a:xfrm>
            <a:off x="1207149" y="5172524"/>
            <a:ext cx="15680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478FD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Issue</a:t>
            </a:r>
            <a:r>
              <a:rPr lang="en-US" dirty="0">
                <a:solidFill>
                  <a:srgbClr val="478FD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solidFill>
                  <a:srgbClr val="478FD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Credentials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F3A565-5760-23FA-61BD-49F9AA292501}"/>
              </a:ext>
            </a:extLst>
          </p:cNvPr>
          <p:cNvSpPr txBox="1"/>
          <p:nvPr/>
        </p:nvSpPr>
        <p:spPr>
          <a:xfrm>
            <a:off x="4415363" y="5178785"/>
            <a:ext cx="13260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0" dirty="0">
                <a:solidFill>
                  <a:srgbClr val="0AAD9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Request Access</a:t>
            </a:r>
            <a:endParaRPr lang="en-US" b="1" i="0" dirty="0">
              <a:solidFill>
                <a:srgbClr val="0AAD96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39CDE8-39E3-600C-AAA9-6BAB1BB3C4EF}"/>
              </a:ext>
            </a:extLst>
          </p:cNvPr>
          <p:cNvSpPr txBox="1"/>
          <p:nvPr/>
        </p:nvSpPr>
        <p:spPr>
          <a:xfrm>
            <a:off x="3765146" y="5507029"/>
            <a:ext cx="2160000" cy="1054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50" b="0" i="0" dirty="0">
                <a:solidFill>
                  <a:srgbClr val="868E9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Graduates securely access and share their digital credentials with potential verifiers on our platform, maintaining full control over their credentials.</a:t>
            </a:r>
            <a:endParaRPr lang="en-US" sz="12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A66E2F-7701-2E1B-303F-714CC312282E}"/>
              </a:ext>
            </a:extLst>
          </p:cNvPr>
          <p:cNvSpPr txBox="1"/>
          <p:nvPr/>
        </p:nvSpPr>
        <p:spPr>
          <a:xfrm>
            <a:off x="7350554" y="5172501"/>
            <a:ext cx="1518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en-GB" b="1" i="0" dirty="0">
                <a:solidFill>
                  <a:srgbClr val="EC77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Verify Documents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899652-4861-06E7-1463-D1FB87DFF954}"/>
              </a:ext>
            </a:extLst>
          </p:cNvPr>
          <p:cNvSpPr txBox="1"/>
          <p:nvPr/>
        </p:nvSpPr>
        <p:spPr>
          <a:xfrm>
            <a:off x="6907229" y="5582073"/>
            <a:ext cx="216000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50" b="0" i="0" dirty="0">
                <a:solidFill>
                  <a:srgbClr val="868E9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Verifiers can instantly verify credentials with our secure platform, ensuring that candidates' credentials are legitimate and trustworthy.</a:t>
            </a:r>
            <a:endParaRPr lang="en-US" sz="12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" name="Picture 2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C671DB2-26F9-5933-5281-F60CE411B80F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  <a:alphaModFix amt="80000"/>
          </a:blip>
          <a:srcRect l="-3628" t="-3628" r="-3628" b="-3628"/>
          <a:stretch/>
        </p:blipFill>
        <p:spPr>
          <a:xfrm>
            <a:off x="6948457" y="5129524"/>
            <a:ext cx="386124" cy="386124"/>
          </a:xfrm>
          <a:prstGeom prst="roundRect">
            <a:avLst/>
          </a:prstGeom>
          <a:solidFill>
            <a:srgbClr val="EC8B33">
              <a:alpha val="50000"/>
            </a:srgbClr>
          </a:solidFill>
          <a:ln>
            <a:solidFill>
              <a:srgbClr val="EC8B33"/>
            </a:solidFill>
          </a:ln>
          <a:effectLst>
            <a:softEdge rad="0"/>
          </a:effectLst>
        </p:spPr>
      </p:pic>
      <p:pic>
        <p:nvPicPr>
          <p:cNvPr id="32" name="Picture 3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1E69FB2-0817-D6EE-C8E0-6BDD790DB415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3">
                <a:shade val="45000"/>
                <a:satMod val="135000"/>
              </a:schemeClr>
              <a:prstClr val="white"/>
            </a:duotone>
            <a:alphaModFix amt="45000"/>
          </a:blip>
          <a:srcRect l="-3628" t="-3628" r="-3628" b="-3628"/>
          <a:stretch/>
        </p:blipFill>
        <p:spPr>
          <a:xfrm>
            <a:off x="3897193" y="5135707"/>
            <a:ext cx="386123" cy="386123"/>
          </a:xfrm>
          <a:prstGeom prst="roundRect">
            <a:avLst/>
          </a:prstGeom>
          <a:solidFill>
            <a:srgbClr val="5DC3AE">
              <a:alpha val="49804"/>
            </a:srgbClr>
          </a:solidFill>
          <a:ln>
            <a:solidFill>
              <a:srgbClr val="5DC3AE"/>
            </a:solidFill>
          </a:ln>
          <a:effectLst>
            <a:softEdge rad="0"/>
          </a:effectLst>
        </p:spPr>
      </p:pic>
      <p:pic>
        <p:nvPicPr>
          <p:cNvPr id="34" name="Picture 33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366C7B0D-A087-ECD6-E4E7-6AB6E46509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92829" y="2236357"/>
            <a:ext cx="2474172" cy="590974"/>
          </a:xfrm>
          <a:prstGeom prst="rect">
            <a:avLst/>
          </a:prstGeom>
          <a:solidFill>
            <a:srgbClr val="72B2C8"/>
          </a:solidFill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2AC0FA1A-4553-380F-995A-518E20A57824}"/>
              </a:ext>
            </a:extLst>
          </p:cNvPr>
          <p:cNvSpPr txBox="1"/>
          <p:nvPr/>
        </p:nvSpPr>
        <p:spPr>
          <a:xfrm>
            <a:off x="1116809" y="2914536"/>
            <a:ext cx="35189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i="0" dirty="0">
                <a:ln w="0"/>
                <a:solidFill>
                  <a:srgbClr val="11304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Secure Credential Verification </a:t>
            </a:r>
            <a:r>
              <a:rPr lang="en-GB" sz="3200" b="1" i="0" u="none" strike="noStrike" dirty="0">
                <a:ln w="0"/>
                <a:solidFill>
                  <a:srgbClr val="11304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Using </a:t>
            </a:r>
            <a:r>
              <a:rPr lang="en-GB" sz="3200" b="1" i="0" u="none" strike="noStrike" dirty="0">
                <a:ln w="0"/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Blockchain</a:t>
            </a:r>
            <a:endParaRPr lang="en-US" sz="3200" b="1" dirty="0">
              <a:ln w="0"/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6" name="Picture 45" descr="A computer with a hand holding a phone&#10;&#10;AI-generated content may be incorrect.">
            <a:extLst>
              <a:ext uri="{FF2B5EF4-FFF2-40B4-BE49-F238E27FC236}">
                <a16:creationId xmlns:a16="http://schemas.microsoft.com/office/drawing/2014/main" id="{0E315F45-5270-C3D9-D87B-23F48CFB95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35707" y="2021827"/>
            <a:ext cx="4165480" cy="2745262"/>
          </a:xfrm>
          <a:prstGeom prst="rect">
            <a:avLst/>
          </a:prstGeom>
        </p:spPr>
      </p:pic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4E4DE222-487F-193F-4E8C-40FBA7967594}"/>
              </a:ext>
            </a:extLst>
          </p:cNvPr>
          <p:cNvSpPr/>
          <p:nvPr/>
        </p:nvSpPr>
        <p:spPr>
          <a:xfrm>
            <a:off x="652796" y="6985943"/>
            <a:ext cx="3629218" cy="1179444"/>
          </a:xfrm>
          <a:prstGeom prst="roundRect">
            <a:avLst/>
          </a:prstGeom>
          <a:solidFill>
            <a:srgbClr val="DFE2E6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1D47592-D4E4-CC69-4857-5981BABE5DD2}"/>
              </a:ext>
            </a:extLst>
          </p:cNvPr>
          <p:cNvSpPr/>
          <p:nvPr/>
        </p:nvSpPr>
        <p:spPr>
          <a:xfrm>
            <a:off x="652796" y="8314887"/>
            <a:ext cx="3629218" cy="2380822"/>
          </a:xfrm>
          <a:prstGeom prst="roundRect">
            <a:avLst/>
          </a:prstGeom>
          <a:solidFill>
            <a:srgbClr val="72B2C8">
              <a:alpha val="499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1" name="Picture 5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FA0AC89-5D8E-C2CA-A61F-B1C56E178A90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8824" t="-8824" r="-8824" b="-8824"/>
          <a:stretch/>
        </p:blipFill>
        <p:spPr>
          <a:xfrm>
            <a:off x="2127870" y="7100692"/>
            <a:ext cx="720000" cy="720000"/>
          </a:xfrm>
          <a:prstGeom prst="ellipse">
            <a:avLst/>
          </a:prstGeom>
          <a:solidFill>
            <a:srgbClr val="72B2C8">
              <a:alpha val="49864"/>
            </a:srgbClr>
          </a:solidFill>
        </p:spPr>
      </p:pic>
      <p:pic>
        <p:nvPicPr>
          <p:cNvPr id="53" name="Picture 5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6B47FE6-AD50-5BE4-1064-9B6FFB335453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-8824" t="-8824" r="-8824" b="-8824"/>
          <a:stretch/>
        </p:blipFill>
        <p:spPr>
          <a:xfrm>
            <a:off x="3382931" y="7100692"/>
            <a:ext cx="720000" cy="720000"/>
          </a:xfrm>
          <a:prstGeom prst="ellipse">
            <a:avLst/>
          </a:prstGeom>
          <a:solidFill>
            <a:srgbClr val="72B2C8">
              <a:alpha val="49972"/>
            </a:srgbClr>
          </a:solidFill>
          <a:ln>
            <a:noFill/>
          </a:ln>
        </p:spPr>
      </p:pic>
      <p:pic>
        <p:nvPicPr>
          <p:cNvPr id="57" name="Picture 5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A337047-0013-143C-3AA9-A7ADA14ECCF8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-8824" t="-8824" r="-8824" b="-8824"/>
          <a:stretch/>
        </p:blipFill>
        <p:spPr>
          <a:xfrm>
            <a:off x="872810" y="7100692"/>
            <a:ext cx="720000" cy="720000"/>
          </a:xfrm>
          <a:prstGeom prst="ellipse">
            <a:avLst/>
          </a:prstGeom>
          <a:solidFill>
            <a:srgbClr val="72B2C8">
              <a:alpha val="50000"/>
            </a:srgbClr>
          </a:solidFill>
        </p:spPr>
      </p:pic>
      <p:sp>
        <p:nvSpPr>
          <p:cNvPr id="58" name="Right Arrow 57">
            <a:extLst>
              <a:ext uri="{FF2B5EF4-FFF2-40B4-BE49-F238E27FC236}">
                <a16:creationId xmlns:a16="http://schemas.microsoft.com/office/drawing/2014/main" id="{2EC5DB26-9389-6ABF-B0E7-449FAB49247D}"/>
              </a:ext>
            </a:extLst>
          </p:cNvPr>
          <p:cNvSpPr/>
          <p:nvPr/>
        </p:nvSpPr>
        <p:spPr>
          <a:xfrm>
            <a:off x="1673477" y="7375506"/>
            <a:ext cx="402785" cy="1703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ight Arrow 58">
            <a:extLst>
              <a:ext uri="{FF2B5EF4-FFF2-40B4-BE49-F238E27FC236}">
                <a16:creationId xmlns:a16="http://schemas.microsoft.com/office/drawing/2014/main" id="{3874BA3B-0E5E-85B1-D219-2F8656281EE3}"/>
              </a:ext>
            </a:extLst>
          </p:cNvPr>
          <p:cNvSpPr/>
          <p:nvPr/>
        </p:nvSpPr>
        <p:spPr>
          <a:xfrm>
            <a:off x="2914008" y="7375506"/>
            <a:ext cx="402785" cy="1703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2B7B268-0589-4D8B-6783-31FEECA0ADE5}"/>
              </a:ext>
            </a:extLst>
          </p:cNvPr>
          <p:cNvSpPr txBox="1"/>
          <p:nvPr/>
        </p:nvSpPr>
        <p:spPr>
          <a:xfrm>
            <a:off x="872810" y="7826833"/>
            <a:ext cx="72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Issuer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1FE5150-024B-ABDF-0C68-1EB8D50291F3}"/>
              </a:ext>
            </a:extLst>
          </p:cNvPr>
          <p:cNvSpPr txBox="1"/>
          <p:nvPr/>
        </p:nvSpPr>
        <p:spPr>
          <a:xfrm>
            <a:off x="3286614" y="7826833"/>
            <a:ext cx="9861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Graduate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DA8E146-6B37-0F28-9782-B470A268E71B}"/>
              </a:ext>
            </a:extLst>
          </p:cNvPr>
          <p:cNvSpPr txBox="1"/>
          <p:nvPr/>
        </p:nvSpPr>
        <p:spPr>
          <a:xfrm>
            <a:off x="1936277" y="7820692"/>
            <a:ext cx="11031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Blockchain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61B6C26-4CAE-0127-AF6D-68ED8E50892F}"/>
              </a:ext>
            </a:extLst>
          </p:cNvPr>
          <p:cNvSpPr txBox="1"/>
          <p:nvPr/>
        </p:nvSpPr>
        <p:spPr>
          <a:xfrm>
            <a:off x="1592810" y="8416760"/>
            <a:ext cx="24000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Technology</a:t>
            </a:r>
            <a:r>
              <a:rPr lang="en-US" sz="2000" dirty="0"/>
              <a:t>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Stack</a:t>
            </a:r>
          </a:p>
        </p:txBody>
      </p:sp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0156DC69-A845-C4D7-DE37-9C98124FE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022831"/>
              </p:ext>
            </p:extLst>
          </p:nvPr>
        </p:nvGraphicFramePr>
        <p:xfrm>
          <a:off x="731927" y="9020771"/>
          <a:ext cx="3550087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1204">
                  <a:extLst>
                    <a:ext uri="{9D8B030D-6E8A-4147-A177-3AD203B41FA5}">
                      <a16:colId xmlns:a16="http://schemas.microsoft.com/office/drawing/2014/main" val="3606385167"/>
                    </a:ext>
                  </a:extLst>
                </a:gridCol>
                <a:gridCol w="2348883">
                  <a:extLst>
                    <a:ext uri="{9D8B030D-6E8A-4147-A177-3AD203B41FA5}">
                      <a16:colId xmlns:a16="http://schemas.microsoft.com/office/drawing/2014/main" val="29392246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Frontend: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React, Vite, Vitest, MantineUI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7601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Backend: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ExpressJS, NodeJS, Prisma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83276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Blockchain: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Hyperledger Fabric, AWS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5107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Database: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PostgreSQL, Supabase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51861400"/>
                  </a:ext>
                </a:extLst>
              </a:tr>
            </a:tbl>
          </a:graphicData>
        </a:graphic>
      </p:graphicFrame>
      <p:pic>
        <p:nvPicPr>
          <p:cNvPr id="66" name="Picture 6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73A7A87-7008-0821-50D9-A631F4D42C9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3075" y="8398460"/>
            <a:ext cx="504892" cy="504892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8D4737E3-0577-B388-0C67-982FDDC924FC}"/>
              </a:ext>
            </a:extLst>
          </p:cNvPr>
          <p:cNvSpPr txBox="1"/>
          <p:nvPr/>
        </p:nvSpPr>
        <p:spPr>
          <a:xfrm>
            <a:off x="5952055" y="6985941"/>
            <a:ext cx="15163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838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en-US" sz="1800" dirty="0">
                <a:solidFill>
                  <a:srgbClr val="1838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solidFill>
                  <a:srgbClr val="1838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Benefits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7FE06FC-592B-8BA3-4CE1-5F26949888FA}"/>
              </a:ext>
            </a:extLst>
          </p:cNvPr>
          <p:cNvSpPr txBox="1"/>
          <p:nvPr/>
        </p:nvSpPr>
        <p:spPr>
          <a:xfrm>
            <a:off x="5137857" y="7272477"/>
            <a:ext cx="3740097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i="0" dirty="0">
                <a:solidFill>
                  <a:srgbClr val="147CC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Secure &amp; Tamper-Proof: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>
                <a:solidFill>
                  <a:srgbClr val="868E9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Credentials are securely stored on the blockchain, making them impossible to forge or tamper with, ensuring lifelong validity.</a:t>
            </a:r>
          </a:p>
          <a:p>
            <a:r>
              <a:rPr lang="en-GB" sz="1600" b="1" i="0" dirty="0">
                <a:solidFill>
                  <a:srgbClr val="147CC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Instant Verification: </a:t>
            </a:r>
            <a:r>
              <a:rPr lang="en-GB" dirty="0">
                <a:solidFill>
                  <a:srgbClr val="868E9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Verifiers can verify credentials in seconds, not days or weeks, streamlining the hiring process and reducing administrative overhead.</a:t>
            </a:r>
            <a:endParaRPr lang="en-US" dirty="0">
              <a:solidFill>
                <a:srgbClr val="868E9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spcAft>
                <a:spcPts val="375"/>
              </a:spcAft>
              <a:buNone/>
            </a:pPr>
            <a:r>
              <a:rPr lang="en-GB" sz="1600" b="1" i="0" u="none" strike="noStrike" dirty="0">
                <a:solidFill>
                  <a:srgbClr val="147CC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User Control: </a:t>
            </a:r>
            <a:r>
              <a:rPr lang="en-GB" dirty="0">
                <a:solidFill>
                  <a:srgbClr val="868E9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Graduates maintain full control over who can access their credentials, with detailed permissions and revocation capabilities.</a:t>
            </a:r>
            <a:br>
              <a:rPr lang="en-GB" dirty="0">
                <a:solidFill>
                  <a:srgbClr val="868E96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600" b="1" i="0" u="none" strike="noStrike" dirty="0">
                <a:solidFill>
                  <a:srgbClr val="147CC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Trusted Network: </a:t>
            </a:r>
            <a:r>
              <a:rPr lang="en-GB" dirty="0">
                <a:solidFill>
                  <a:srgbClr val="868E9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Our platform connects legitimate educational institutions, graduates, and verifiers in a secure, transparent ecosystem.</a:t>
            </a:r>
          </a:p>
        </p:txBody>
      </p:sp>
      <p:pic>
        <p:nvPicPr>
          <p:cNvPr id="72" name="Picture 7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E5F6BF6-F709-AF38-F608-291513FDEE7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85834" y="7381091"/>
            <a:ext cx="450000" cy="450000"/>
          </a:xfrm>
          <a:prstGeom prst="rect">
            <a:avLst/>
          </a:prstGeom>
        </p:spPr>
      </p:pic>
      <p:pic>
        <p:nvPicPr>
          <p:cNvPr id="74" name="Picture 7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52E121F-7DF1-21F2-F56B-5D37396C4DD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85834" y="8233674"/>
            <a:ext cx="450000" cy="450000"/>
          </a:xfrm>
          <a:prstGeom prst="rect">
            <a:avLst/>
          </a:prstGeom>
        </p:spPr>
      </p:pic>
      <p:pic>
        <p:nvPicPr>
          <p:cNvPr id="76" name="Picture 7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F5BE8D0-B6CF-8644-8812-C859DEC89D7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30834" y="9126208"/>
            <a:ext cx="360000" cy="360000"/>
          </a:xfrm>
          <a:prstGeom prst="rect">
            <a:avLst/>
          </a:prstGeom>
        </p:spPr>
      </p:pic>
      <p:pic>
        <p:nvPicPr>
          <p:cNvPr id="78" name="Picture 7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A140513-8EF2-2EAE-1F82-DA341DBB6FA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85834" y="9802139"/>
            <a:ext cx="450000" cy="450000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C4D77420-1A84-4252-8993-10E8123BB821}"/>
              </a:ext>
            </a:extLst>
          </p:cNvPr>
          <p:cNvSpPr txBox="1"/>
          <p:nvPr/>
        </p:nvSpPr>
        <p:spPr>
          <a:xfrm>
            <a:off x="2283282" y="11098292"/>
            <a:ext cx="5126724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900" b="1" dirty="0">
                <a:solidFill>
                  <a:srgbClr val="183850"/>
                </a:solidFill>
              </a:rPr>
              <a:t>We're Live!</a:t>
            </a:r>
            <a:r>
              <a:rPr lang="en-GB" sz="1900" dirty="0">
                <a:solidFill>
                  <a:srgbClr val="183850"/>
                </a:solidFill>
              </a:rPr>
              <a:t> </a:t>
            </a:r>
            <a:r>
              <a:rPr lang="en-GB" sz="1900" dirty="0">
                <a:solidFill>
                  <a:srgbClr val="25262B"/>
                </a:solidFill>
              </a:rPr>
              <a:t>🚀</a:t>
            </a:r>
            <a:br>
              <a:rPr lang="en-GB" sz="1900" dirty="0">
                <a:solidFill>
                  <a:srgbClr val="25262B"/>
                </a:solidFill>
              </a:rPr>
            </a:br>
            <a:r>
              <a:rPr lang="en-GB" sz="1900" dirty="0">
                <a:solidFill>
                  <a:srgbClr val="183850"/>
                </a:solidFill>
              </a:rPr>
              <a:t>See how Legitify simplifies digital verification! </a:t>
            </a:r>
            <a:br>
              <a:rPr lang="en-GB" sz="1900" dirty="0">
                <a:solidFill>
                  <a:srgbClr val="183850"/>
                </a:solidFill>
              </a:rPr>
            </a:br>
            <a:r>
              <a:rPr lang="en-GB" sz="1900" dirty="0">
                <a:solidFill>
                  <a:srgbClr val="183850"/>
                </a:solidFill>
              </a:rPr>
              <a:t>Scan to check it out now!</a:t>
            </a:r>
          </a:p>
          <a:p>
            <a:r>
              <a:rPr lang="en-US" sz="1900" dirty="0">
                <a:solidFill>
                  <a:srgbClr val="1838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www.legitifyapp.com</a:t>
            </a:r>
          </a:p>
        </p:txBody>
      </p:sp>
      <p:pic>
        <p:nvPicPr>
          <p:cNvPr id="91" name="Picture 90" descr="A qr code with a picture of a certificate&#10;&#10;AI-generated content may be incorrect.">
            <a:extLst>
              <a:ext uri="{FF2B5EF4-FFF2-40B4-BE49-F238E27FC236}">
                <a16:creationId xmlns:a16="http://schemas.microsoft.com/office/drawing/2014/main" id="{45AB1394-87D9-7001-4EE2-C4C840B0264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73570" y="11063131"/>
            <a:ext cx="1161101" cy="13538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248</Words>
  <Application>Microsoft Macintosh PowerPoint</Application>
  <PresentationFormat>A3 Paper (297x420 mm)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Play</vt:lpstr>
      <vt:lpstr>Titillium Web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Marie Leahy</dc:creator>
  <cp:lastModifiedBy>Chris Dobey</cp:lastModifiedBy>
  <cp:revision>5</cp:revision>
  <dcterms:created xsi:type="dcterms:W3CDTF">2024-03-27T09:51:54Z</dcterms:created>
  <dcterms:modified xsi:type="dcterms:W3CDTF">2025-05-07T09:01:03Z</dcterms:modified>
</cp:coreProperties>
</file>